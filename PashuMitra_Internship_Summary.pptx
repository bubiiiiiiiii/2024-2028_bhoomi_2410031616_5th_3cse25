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2E5B4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206240" cy="4206240"/>
          </a:xfrm>
          <a:prstGeom prst="ellipse">
            <a:avLst/>
          </a:prstGeom>
          <a:solidFill>
            <a:srgbClr val="4F9A7C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6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INTERNSHIP · JUNIOR WEB DEVELOPER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PashuMitra</a:t>
            </a:r>
            <a:endParaRPr lang="en-US" sz="6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03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Ward-Level Stray Animal Grievance &amp; Care Coordination Platform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4526280"/>
            <a:ext cx="20116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091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4-week project covering requirements planning, responsive UI design, QA &amp; testing strategy, and a pre-launch performance/accessibility/security audit — for an e-governance digital service.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  ·  B.Tech CSE, IILM University, Greater Noida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Weeks, One Continuous Project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74520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6E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8745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Requirements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286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personas, functional/non-functional requirements, risk analysis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25496"/>
            <a:ext cx="7452360" cy="0"/>
          </a:xfrm>
          <a:prstGeom prst="line">
            <a:avLst/>
          </a:prstGeom>
          <a:noFill/>
          <a:ln w="12700">
            <a:solidFill>
              <a:srgbClr val="DADA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98648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6E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986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Design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101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map, high-fidelity mockups across breakpoints, accessibility-first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849624"/>
            <a:ext cx="7452360" cy="0"/>
          </a:xfrm>
          <a:prstGeom prst="line">
            <a:avLst/>
          </a:prstGeom>
          <a:noFill/>
          <a:ln w="12700">
            <a:solidFill>
              <a:srgbClr val="DADAD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922776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6E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92277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Testing Strategy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33425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pyramid, 7 detailed test cases, CI/CD pipeline, risk heatmap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873752"/>
            <a:ext cx="7452360" cy="0"/>
          </a:xfrm>
          <a:prstGeom prst="line">
            <a:avLst/>
          </a:prstGeom>
          <a:noFill/>
          <a:ln w="12700">
            <a:solidFill>
              <a:srgbClr val="DADA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946904"/>
            <a:ext cx="914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6E0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94690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Accessibility &amp; Security Audit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35838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Vitals, WCAG 2.1 AA compliance, OWASP-based findings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5897880"/>
            <a:ext cx="7452360" cy="0"/>
          </a:xfrm>
          <a:prstGeom prst="line">
            <a:avLst/>
          </a:prstGeom>
          <a:noFill/>
          <a:ln w="12700">
            <a:solidFill>
              <a:srgbClr val="DAD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1874520"/>
            <a:ext cx="3337560" cy="3931920"/>
          </a:xfrm>
          <a:prstGeom prst="roundRect">
            <a:avLst>
              <a:gd name="adj" fmla="val 3288"/>
            </a:avLst>
          </a:prstGeom>
          <a:solidFill>
            <a:srgbClr val="EAF3EE"/>
          </a:solidFill>
          <a:ln w="12700">
            <a:solidFill>
              <a:srgbClr val="B6E0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231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Prototype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200400"/>
            <a:ext cx="2834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four weekly reports, a functional front-end build simulates the citizen portal end-to-end — real form validation, live case tracking, and a working dashboard.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Stray Animal Grievances Don't Fit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Generic Complaint Portal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84048" cy="384048"/>
          </a:xfrm>
          <a:prstGeom prst="ellipse">
            <a:avLst/>
          </a:prstGeom>
          <a:solidFill>
            <a:srgbClr val="B6E0C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6" dirty="0"/>
          </a:p>
        </p:txBody>
      </p:sp>
      <p:sp>
        <p:nvSpPr>
          <p:cNvPr id="6" name="Text 4"/>
          <p:cNvSpPr txBox="1"/>
          <p:nvPr/>
        </p:nvSpPr>
        <p:spPr>
          <a:xfrm>
            <a:off x="1069848" y="21214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moving subject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69848" y="2514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pothole or a garbage pile, the case involves an animal that may need to be located again — location and photo evidence matter more.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3081528"/>
            <a:ext cx="384048" cy="384048"/>
          </a:xfrm>
          <a:prstGeom prst="ellipse">
            <a:avLst/>
          </a:prstGeom>
          <a:solidFill>
            <a:srgbClr val="B6E0C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6" dirty="0"/>
          </a:p>
        </p:txBody>
      </p:sp>
      <p:sp>
        <p:nvSpPr>
          <p:cNvPr id="10" name="Text 8"/>
          <p:cNvSpPr txBox="1"/>
          <p:nvPr/>
        </p:nvSpPr>
        <p:spPr>
          <a:xfrm>
            <a:off x="1069848" y="305409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legal process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069848" y="344728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Birth Control (ABC) Rules, 2023 already set out capture → sterilise → vaccinate → release/shelter as the required workflow.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14216"/>
            <a:ext cx="384048" cy="384048"/>
          </a:xfrm>
          <a:prstGeom prst="ellipse">
            <a:avLst/>
          </a:prstGeom>
          <a:solidFill>
            <a:srgbClr val="B6E0C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4014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6" dirty="0"/>
          </a:p>
        </p:txBody>
      </p:sp>
      <p:sp>
        <p:nvSpPr>
          <p:cNvPr id="14" name="Text 12"/>
          <p:cNvSpPr txBox="1"/>
          <p:nvPr/>
        </p:nvSpPr>
        <p:spPr>
          <a:xfrm>
            <a:off x="1069848" y="398678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disconnected actors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" y="437997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ward officers, AWBI-recognised NGOs, and vets rarely share one system — cases get lost between a helpline and a spreadsheet.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946904"/>
            <a:ext cx="384048" cy="384048"/>
          </a:xfrm>
          <a:prstGeom prst="ellipse">
            <a:avLst/>
          </a:prstGeom>
          <a:solidFill>
            <a:srgbClr val="B6E0C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946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76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76" dirty="0"/>
          </a:p>
        </p:txBody>
      </p:sp>
      <p:sp>
        <p:nvSpPr>
          <p:cNvPr id="18" name="Text 16"/>
          <p:cNvSpPr txBox="1"/>
          <p:nvPr/>
        </p:nvSpPr>
        <p:spPr>
          <a:xfrm>
            <a:off x="1069848" y="49194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public-health urgency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53126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Bite and rabies-related complaints need faster, trackable response than a routine civic complaint.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&amp; Requirements Analysis</a:t>
            </a:r>
            <a:endParaRPr lang="en-US" sz="3200" dirty="0"/>
          </a:p>
        </p:txBody>
      </p:sp>
      <p:pic>
        <p:nvPicPr>
          <p:cNvPr id="4" name="Image 0" descr="/home/claude/deck_assets/stakeholder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91640"/>
            <a:ext cx="493776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20840" y="5852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Stakeholder ecosystem around the platform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7830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existing initiatives — Panvel's ABC Helpline, MCD's feeding-point registry, DigiLocker/UMANG identity patterns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688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4 stakeholder personas: resident reporter, community feeder, veterinary officer, ward officer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154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1546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functional requirements (FR-01 to FR-12) prioritised Must/Should/Could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3840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8404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non-functional requirements spanning availability, security, accessibility, and offline resilience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45262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45262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risk analysis with likelihood/impact ratings and mitigation strategies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Web Prototype Design</a:t>
            </a:r>
            <a:endParaRPr lang="en-US" sz="3200" dirty="0"/>
          </a:p>
        </p:txBody>
      </p:sp>
      <p:pic>
        <p:nvPicPr>
          <p:cNvPr id="4" name="Image 0" descr="/home/claude/deck_assets/responsive_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11155680" cy="3383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2920" y="5120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— Homepage layout at 375px (mobile), 768px (tablet), and 1440px (desktop)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2920" y="562356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B6E0C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5623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fluid grid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044952" y="5623560"/>
            <a:ext cx="1856232" cy="384048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B6E0C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5623560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target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65776" y="5623560"/>
            <a:ext cx="2985516" cy="384048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B6E0C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65776" y="5623560"/>
            <a:ext cx="29855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photo-first report flow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15884" y="5623560"/>
            <a:ext cx="2290572" cy="384048"/>
          </a:xfrm>
          <a:prstGeom prst="roundRect">
            <a:avLst>
              <a:gd name="adj" fmla="val 50000"/>
            </a:avLst>
          </a:prstGeom>
          <a:solidFill>
            <a:srgbClr val="EAF3EE"/>
          </a:solidFill>
          <a:ln w="12700">
            <a:solidFill>
              <a:srgbClr val="B6E0C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15884" y="5623560"/>
            <a:ext cx="22905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GIGW-aligned trust cues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&amp; Testing Strategy</a:t>
            </a:r>
            <a:endParaRPr lang="en-US" sz="3200" dirty="0"/>
          </a:p>
        </p:txBody>
      </p:sp>
      <p:pic>
        <p:nvPicPr>
          <p:cNvPr id="4" name="Image 0" descr="/home/claude/deck_assets/test_pyram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91640"/>
            <a:ext cx="630936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737360"/>
            <a:ext cx="4480560" cy="4251960"/>
          </a:xfrm>
          <a:prstGeom prst="roundRect">
            <a:avLst>
              <a:gd name="adj" fmla="val 2151"/>
            </a:avLst>
          </a:prstGeom>
          <a:solidFill>
            <a:srgbClr val="EAF3EE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52360" y="20116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6334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test cases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9992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36210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covered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398678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4608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mapped &amp; mitigated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497433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5596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severity tiers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Performance, Accessibility &amp; Security Audit</a:t>
            </a:r>
            <a:endParaRPr lang="en-US" sz="3200" dirty="0"/>
          </a:p>
        </p:txBody>
      </p:sp>
      <p:pic>
        <p:nvPicPr>
          <p:cNvPr id="4" name="Image 0" descr="/home/claude/deck_assets/lighthouse_sco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5486400" cy="2606040"/>
          </a:xfrm>
          <a:prstGeom prst="rect">
            <a:avLst/>
          </a:prstGeom>
        </p:spPr>
      </p:pic>
      <p:pic>
        <p:nvPicPr>
          <p:cNvPr id="5" name="Image 1" descr="/home/claude/deck_assets/security_sever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434840"/>
            <a:ext cx="5486400" cy="2148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537960" y="1737360"/>
            <a:ext cx="5120640" cy="4846320"/>
          </a:xfrm>
          <a:prstGeom prst="roundRect">
            <a:avLst>
              <a:gd name="adj" fmla="val 1887"/>
            </a:avLst>
          </a:prstGeom>
          <a:solidFill>
            <a:srgbClr val="EAF3EE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12280" y="24231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broken access control let a citizen token reach an admin export endpoint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812280" y="304495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stored XSS risk in the case-description field, unsanitised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812280" y="36667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PII (phone numbers) exposed unmasked to NGO field app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812280" y="42885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LCP 3.1s on 3G vs. 2.5s target — hero image needs optimisation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6812280" y="49103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110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Accessibility: 65% Operable-principle compliance — keyboard nav gaps on upload control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812280" y="6080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E5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P0 issues fixed before pilot launch · 6 P1 in first sprint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REPORTS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Front-End Prototype</a:t>
            </a:r>
            <a:endParaRPr lang="en-US" sz="3200" dirty="0"/>
          </a:p>
        </p:txBody>
      </p:sp>
      <p:pic>
        <p:nvPicPr>
          <p:cNvPr id="4" name="Image 0" descr="/home/claude/deck_assets/prototype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691640"/>
            <a:ext cx="539496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691640"/>
            <a:ext cx="5394960" cy="3566160"/>
          </a:xfrm>
          <a:prstGeom prst="roundRect">
            <a:avLst>
              <a:gd name="adj" fmla="val 1538"/>
            </a:avLst>
          </a:prstGeom>
          <a:ln w="15875">
            <a:solidFill>
              <a:srgbClr val="DADAD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5349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 — citizen portal homepage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17830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client-side validation — blocks submission until name, phone, category, and photo are filled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4414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441448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submission generates a live case ID and feeds directly into Track My Case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0998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099816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stepper with an "Advance status" control simulating the real backend workflow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37581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375818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registry issues a working digital ID on submit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441655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41655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stats and category chart update live from session data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074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0749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responsive — tested at 375px mobile and 1280px desktop, keyboard-navigable throughout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96596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21122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23865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(mobile) + React.js (web)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95351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shared logic across citizen app and ward-officer console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96596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53128" y="21122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453128" y="23865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53128" y="295351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REST services for the case-engine 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01000" y="17830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02168" y="196596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02168" y="211226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38658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02168" y="295351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plus geo-fenced ward routing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" y="42611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" y="45354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Cypress, k6, OWASP ZAP, axe-core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" y="510235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unit through security and accessibility layers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53128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453128" y="42611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453128" y="45354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 GI Cloud ("MeghRaj")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53128" y="510235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Empanelled cloud, standard for Indian e-governance deployments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01000" y="39319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ADAD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02168" y="4114800"/>
            <a:ext cx="502920" cy="91440"/>
          </a:xfrm>
          <a:prstGeom prst="roundRect">
            <a:avLst>
              <a:gd name="adj" fmla="val 50000"/>
            </a:avLst>
          </a:prstGeom>
          <a:solidFill>
            <a:srgbClr val="B6E0C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02168" y="4261104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02168" y="4535424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Aadhaar-linked OTP + SSO-ready staff login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02168" y="5102352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DigiLocker/UMANG identity patterns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FOUR WEEKS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13232"/>
            <a:ext cx="11183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continuous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design → QA → audit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9202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9184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063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and traced through every phase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80760" y="19202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8076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3063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test cases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spanning functional, load, and 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192024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AF3E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0" y="21488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5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0632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2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P0/P1/P2 for pilot launch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45720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and test traces back to a specific requirement — Week 1 defined what to build, Week 2 defined how it should look, Week 3 defined how to verify it, and Week 4 checked the actual build against measurable benchmarks.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2E5B4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4F9A7C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468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6E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7889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PashuMitra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C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reports, diagrams, and the working prototype are available on GitHub.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Bhoomi  ·  B.Tech CSE, IILM University, Greater Noida  ·  Junior Web Developer Virtual Internship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2026-08-29T13:30:04Z</dcterms:created>
  <dcterms:modified xsi:type="dcterms:W3CDTF">2026-08-29T13:30:04Z</dcterms:modified>
</cp:coreProperties>
</file>